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3A7831-F2F2-40AE-8E4F-73F77F25F450}">
  <a:tblStyle styleId="{3F3A7831-F2F2-40AE-8E4F-73F77F25F4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68" autoAdjust="0"/>
  </p:normalViewPr>
  <p:slideViewPr>
    <p:cSldViewPr snapToGrid="0">
      <p:cViewPr varScale="1">
        <p:scale>
          <a:sx n="96" d="100"/>
          <a:sy n="96" d="100"/>
        </p:scale>
        <p:origin x="106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ead6a3e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7ead6a3e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80c0b098b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80c0b098b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6f0b1d60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6f0b1d60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80c0b098b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80c0b098b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7ead6a3e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7ead6a3e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6f0b1d60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6f0b1d60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6f0b1d60c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6f0b1d60c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8059199f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8059199f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8732ad7c7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8732ad7c7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7ead6a3ee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7ead6a3ee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8732ad7c7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8732ad7c7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8732ad7c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8732ad7c7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6f0b1d60c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6f0b1d60c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6f0b1d60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6f0b1d60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7ead6a3e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7ead6a3e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80c0b098b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80c0b098b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6f0b1d60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6f0b1d60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8059199fa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8059199fa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7ead6a3ee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7ead6a3ee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80c0b098b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80c0b098b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80c0b098b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80c0b098b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2b7980cf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2b7980cf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4500"/>
              <a:t>UAV Detection</a:t>
            </a:r>
            <a:endParaRPr sz="45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9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Uri Yallow, Yoav Raytsfeld</a:t>
            </a:r>
            <a:endParaRPr sz="1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Course: Applied AI and Data Science Studio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 &amp; Motivation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1149750" y="806839"/>
            <a:ext cx="6844500" cy="30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1. The Real World Problem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Classify flying objects—specifically </a:t>
            </a:r>
            <a:r>
              <a:rPr lang="en-GB" sz="1100" b="1">
                <a:solidFill>
                  <a:schemeClr val="dk1"/>
                </a:solidFill>
              </a:rPr>
              <a:t>UAVs and birds</a:t>
            </a:r>
            <a:r>
              <a:rPr lang="en-GB" sz="1100">
                <a:solidFill>
                  <a:schemeClr val="dk1"/>
                </a:solidFill>
              </a:rPr>
              <a:t>—using only </a:t>
            </a:r>
            <a:r>
              <a:rPr lang="en-GB" sz="1100" b="1">
                <a:solidFill>
                  <a:schemeClr val="dk1"/>
                </a:solidFill>
              </a:rPr>
              <a:t>radar trajectory data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Identify the object type </a:t>
            </a:r>
            <a:r>
              <a:rPr lang="en-GB" sz="1100" b="1">
                <a:solidFill>
                  <a:schemeClr val="dk1"/>
                </a:solidFill>
              </a:rPr>
              <a:t>sample-by-sample</a:t>
            </a:r>
            <a:r>
              <a:rPr lang="en-GB" sz="1100">
                <a:solidFill>
                  <a:schemeClr val="dk1"/>
                </a:solidFill>
              </a:rPr>
              <a:t> as data arrives, with reliability improving as the trajectory unfolds.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2. The Challenge: Ambiguity in Radar Data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Spatial Overlap:</a:t>
            </a:r>
            <a:r>
              <a:rPr lang="en-GB" sz="1100">
                <a:solidFill>
                  <a:schemeClr val="dk1"/>
                </a:solidFill>
              </a:rPr>
              <a:t> Birds and drones often have indistinguishable static 3D coordinates.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Dynamics are Key:</a:t>
            </a:r>
            <a:r>
              <a:rPr lang="en-GB" sz="1100">
                <a:solidFill>
                  <a:schemeClr val="dk1"/>
                </a:solidFill>
              </a:rPr>
              <a:t> Identity is revealed through </a:t>
            </a:r>
            <a:r>
              <a:rPr lang="en-GB" sz="1100" b="1">
                <a:solidFill>
                  <a:schemeClr val="dk1"/>
                </a:solidFill>
              </a:rPr>
              <a:t>motion dynamics</a:t>
            </a:r>
            <a:r>
              <a:rPr lang="en-GB" sz="1100">
                <a:solidFill>
                  <a:schemeClr val="dk1"/>
                </a:solidFill>
              </a:rPr>
              <a:t> (acceleration, turn rates), requiring analysis of how the object moves over time.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3. The Gap: Why Conventional Models Fail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Batch vs. Streaming:</a:t>
            </a:r>
            <a:r>
              <a:rPr lang="en-GB" sz="1100">
                <a:solidFill>
                  <a:schemeClr val="dk1"/>
                </a:solidFill>
              </a:rPr>
              <a:t> Conventional models often require fixed-length feature extraction (e.g., "wait for 10 seconds"), forcing offline batch analysis.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1277200" y="34875"/>
            <a:ext cx="6933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Background &amp; Motivation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1301595" y="1045500"/>
            <a:ext cx="55830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Distinguish flying object types using motion over time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Compare model based filters vs learned sequence models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Generate Simulations of UAVs trajectories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1415545" y="69650"/>
            <a:ext cx="5835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Research Goals &amp; Objectives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3023450" y="56975"/>
            <a:ext cx="293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Methodology</a:t>
            </a:r>
            <a:endParaRPr sz="3200"/>
          </a:p>
        </p:txBody>
      </p:sp>
      <p:pic>
        <p:nvPicPr>
          <p:cNvPr id="83" name="Google Shape;83;p18" title="high evel flow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4200"/>
            <a:ext cx="8839204" cy="2412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742" y="2189719"/>
            <a:ext cx="4624201" cy="27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9"/>
          <p:cNvSpPr txBox="1"/>
          <p:nvPr/>
        </p:nvSpPr>
        <p:spPr>
          <a:xfrm>
            <a:off x="1418126" y="130200"/>
            <a:ext cx="615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Synthetic Trajectories Motivation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1456777" y="913658"/>
            <a:ext cx="6054600" cy="11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</a:rPr>
              <a:t>Why Synthetic and Simulated Data Is Required</a:t>
            </a:r>
            <a:endParaRPr sz="11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No real labeled radar trajectory dataset is available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kinematic motion equations alone fail to capture execution behavior, control constraints, and noise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75600" y="0"/>
            <a:ext cx="9010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PX4 Autopilot Simulation Overview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96" name="Google Shape;96;p20"/>
          <p:cNvPicPr preferRelativeResize="0"/>
          <p:nvPr/>
        </p:nvPicPr>
        <p:blipFill rotWithShape="1">
          <a:blip r:embed="rId3">
            <a:alphaModFix/>
          </a:blip>
          <a:srcRect r="26820"/>
          <a:stretch/>
        </p:blipFill>
        <p:spPr>
          <a:xfrm>
            <a:off x="5713739" y="812350"/>
            <a:ext cx="3430261" cy="43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00" y="952230"/>
            <a:ext cx="2129650" cy="8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 txBox="1"/>
          <p:nvPr/>
        </p:nvSpPr>
        <p:spPr>
          <a:xfrm>
            <a:off x="75595" y="606029"/>
            <a:ext cx="868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032F62"/>
                </a:solidFill>
                <a:highlight>
                  <a:srgbClr val="F6F6F7"/>
                </a:highlight>
                <a:latin typeface="Courier New"/>
                <a:ea typeface="Courier New"/>
                <a:cs typeface="Courier New"/>
                <a:sym typeface="Courier New"/>
              </a:rPr>
              <a:t>gz_x500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00" y="2220767"/>
            <a:ext cx="2129650" cy="8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75595" y="1912365"/>
            <a:ext cx="11937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032F62"/>
                </a:solidFill>
                <a:highlight>
                  <a:srgbClr val="F6F6F7"/>
                </a:highlight>
                <a:latin typeface="Courier New"/>
                <a:ea typeface="Courier New"/>
                <a:cs typeface="Courier New"/>
                <a:sym typeface="Courier New"/>
              </a:rPr>
              <a:t>gz_rc_cessna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6">
            <a:alphaModFix/>
          </a:blip>
          <a:srcRect b="22666"/>
          <a:stretch/>
        </p:blipFill>
        <p:spPr>
          <a:xfrm>
            <a:off x="75600" y="3507463"/>
            <a:ext cx="2129650" cy="8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75595" y="3161262"/>
            <a:ext cx="1600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032F62"/>
                </a:solidFill>
                <a:highlight>
                  <a:srgbClr val="F6F6F7"/>
                </a:highlight>
                <a:latin typeface="Courier New"/>
                <a:ea typeface="Courier New"/>
                <a:cs typeface="Courier New"/>
                <a:sym typeface="Courier New"/>
              </a:rPr>
              <a:t>gz_advanced_plane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30100" y="2193642"/>
            <a:ext cx="2129650" cy="8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2630100" y="1847443"/>
            <a:ext cx="1291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032F62"/>
                </a:solidFill>
                <a:highlight>
                  <a:srgbClr val="F6F6F7"/>
                </a:highlight>
                <a:latin typeface="Courier New"/>
                <a:ea typeface="Courier New"/>
                <a:cs typeface="Courier New"/>
                <a:sym typeface="Courier New"/>
              </a:rPr>
              <a:t>gz_tiltrotor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8">
            <a:alphaModFix/>
          </a:blip>
          <a:srcRect l="11144" r="15439"/>
          <a:stretch/>
        </p:blipFill>
        <p:spPr>
          <a:xfrm>
            <a:off x="2630100" y="966326"/>
            <a:ext cx="2129650" cy="8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2630100" y="620125"/>
            <a:ext cx="1600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032F62"/>
                </a:solidFill>
                <a:highlight>
                  <a:srgbClr val="F6F6F7"/>
                </a:highlight>
                <a:latin typeface="Courier New"/>
                <a:ea typeface="Courier New"/>
                <a:cs typeface="Courier New"/>
                <a:sym typeface="Courier New"/>
              </a:rPr>
              <a:t>gz_quadtailsitter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9">
            <a:alphaModFix/>
          </a:blip>
          <a:srcRect l="2844" t="2816" r="5412" b="5751"/>
          <a:stretch/>
        </p:blipFill>
        <p:spPr>
          <a:xfrm>
            <a:off x="2985225" y="3230475"/>
            <a:ext cx="2479524" cy="191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832500" y="101300"/>
            <a:ext cx="7479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Simulation-Based Trajectory Generation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13" name="Google Shape;113;p21" title="gz_px4vision_traj_032.png"/>
          <p:cNvPicPr preferRelativeResize="0"/>
          <p:nvPr/>
        </p:nvPicPr>
        <p:blipFill rotWithShape="1">
          <a:blip r:embed="rId3">
            <a:alphaModFix/>
          </a:blip>
          <a:srcRect l="6255" t="12002" r="63004" b="45808"/>
          <a:stretch/>
        </p:blipFill>
        <p:spPr>
          <a:xfrm>
            <a:off x="386613" y="2807625"/>
            <a:ext cx="2353577" cy="230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22976" y="1555393"/>
            <a:ext cx="67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</a:rPr>
              <a:t>Helix:</a:t>
            </a: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115" name="Google Shape;115;p21" title="aug.png"/>
          <p:cNvPicPr preferRelativeResize="0"/>
          <p:nvPr/>
        </p:nvPicPr>
        <p:blipFill rotWithShape="1">
          <a:blip r:embed="rId4">
            <a:alphaModFix/>
          </a:blip>
          <a:srcRect l="4816"/>
          <a:stretch/>
        </p:blipFill>
        <p:spPr>
          <a:xfrm>
            <a:off x="3023075" y="1641450"/>
            <a:ext cx="6120924" cy="350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 descr="{&quot;color&quot;:&quot;#000000&quot;,&quot;text&quot;:&quot;θ = 4πu\n&quot;,&quot;mathType&quot;:&quot;LaTEX&quot;,&quot;height&quot;:100}" title="Math_Equation_Generat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385962"/>
            <a:ext cx="752775" cy="172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descr="{&quot;text&quot;:&quot;x = r cos(θ)&quot;,&quot;height&quot;:100,&quot;mathType&quot;:&quot;LaTEX&quot;,&quot;color&quot;:&quot;#000000&quot;}" title="Math_Equation_Generat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3" y="1826103"/>
            <a:ext cx="1255892" cy="25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 descr="{&quot;text&quot;:&quot;y = r sin(θ)&quot;,&quot;height&quot;:100,&quot;color&quot;:&quot;#000000&quot;,&quot;mathType&quot;:&quot;LaTEX&quot;}" title="Math_Equation_Generat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5" y="2099381"/>
            <a:ext cx="1240670" cy="2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3000393" y="1262450"/>
            <a:ext cx="2410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 b="1">
                <a:solidFill>
                  <a:schemeClr val="dk1"/>
                </a:solidFill>
              </a:rPr>
              <a:t>Trajectory Variants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120" name="Google Shape;120;p21" descr="{&quot;text&quot;:&quot;z = lerp(z_{start}, z_{end}, u)\n&quot;,&quot;height&quot;:100,&quot;mathType&quot;:&quot;LaTEX&quot;,&quot;color&quot;:&quot;#000000&quot;}" title="Math_Equation_Generat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400" y="2584325"/>
            <a:ext cx="2599796" cy="25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0" y="1262447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</a:rPr>
              <a:t>Motion Trajectory Generation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p22"/>
          <p:cNvGraphicFramePr/>
          <p:nvPr/>
        </p:nvGraphicFramePr>
        <p:xfrm>
          <a:off x="58975" y="1354389"/>
          <a:ext cx="9026050" cy="3686604"/>
        </p:xfrm>
        <a:graphic>
          <a:graphicData uri="http://schemas.openxmlformats.org/drawingml/2006/table">
            <a:tbl>
              <a:tblPr>
                <a:noFill/>
                <a:tableStyleId>{3F3A7831-F2F2-40AE-8E4F-73F77F25F450}</a:tableStyleId>
              </a:tblPr>
              <a:tblGrid>
                <a:gridCol w="249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Aspect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Mamba (SSM)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IMM Filtering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Modeling type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Fully data driven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Physics model driven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Motion knowledge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Learned implicitly from trajectories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Predefined motion equations 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Training required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Yes, offline learning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 </a:t>
                      </a:r>
                      <a:r>
                        <a:rPr lang="en-GB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</a:rPr>
                        <a:t>online learning</a:t>
                      </a:r>
                      <a:r>
                        <a:rPr lang="en-GB" sz="1200"/>
                        <a:t>, for covariance initialization (Q, R)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Prediction style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Direct next step regression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Predict/update filtering cycle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Adaptation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Learned weights capture behavior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Switches between motion modes probabilistically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Interpretability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Black box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Transparent states + mode probabilities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Dependency on dataset quality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High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Medium (Sensitive to calibration data)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Strength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Captures complex patterns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Stable and robust for known dynamics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Weakness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Needs large representative data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Limited to modeled motion types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7" name="Google Shape;127;p22"/>
          <p:cNvSpPr txBox="1"/>
          <p:nvPr/>
        </p:nvSpPr>
        <p:spPr>
          <a:xfrm>
            <a:off x="58950" y="128267"/>
            <a:ext cx="902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2800" b="1">
                <a:solidFill>
                  <a:schemeClr val="dk1"/>
                </a:solidFill>
              </a:rPr>
              <a:t>Sequence Learning vs Probabilistic Motion Models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/>
        </p:nvSpPr>
        <p:spPr>
          <a:xfrm>
            <a:off x="1235334" y="892800"/>
            <a:ext cx="6524700" cy="26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Role:</a:t>
            </a:r>
            <a:r>
              <a:rPr lang="en-GB" sz="1100">
                <a:solidFill>
                  <a:schemeClr val="dk1"/>
                </a:solidFill>
              </a:rPr>
              <a:t> The "Manager" that fuses the linear and non-linear models.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Concept:</a:t>
            </a:r>
            <a:r>
              <a:rPr lang="en-GB" sz="1100">
                <a:solidFill>
                  <a:schemeClr val="dk1"/>
                </a:solidFill>
              </a:rPr>
              <a:t> Runs competing physics models (AKF + EKF) in parallel and blends their outputs.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The IMM Cycle: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 b="1">
                <a:solidFill>
                  <a:schemeClr val="dk1"/>
                </a:solidFill>
              </a:rPr>
              <a:t>Interaction (Mixing):</a:t>
            </a:r>
            <a:r>
              <a:rPr lang="en-GB" sz="1100">
                <a:solidFill>
                  <a:schemeClr val="dk1"/>
                </a:solidFill>
              </a:rPr>
              <a:t> Pre-mixes state estimates based on the probability of switching flight modes (Markov Chain).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 b="1">
                <a:solidFill>
                  <a:schemeClr val="dk1"/>
                </a:solidFill>
              </a:rPr>
              <a:t>Filtering:</a:t>
            </a:r>
            <a:r>
              <a:rPr lang="en-GB" sz="1100">
                <a:solidFill>
                  <a:schemeClr val="dk1"/>
                </a:solidFill>
              </a:rPr>
              <a:t> Each model predicts the next state independently using its own physics (Linear AKF vs. Turning EKF).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 b="1">
                <a:solidFill>
                  <a:schemeClr val="dk1"/>
                </a:solidFill>
              </a:rPr>
              <a:t>Probability Update</a:t>
            </a:r>
            <a:r>
              <a:rPr lang="en-GB" sz="1100">
                <a:solidFill>
                  <a:schemeClr val="dk1"/>
                </a:solidFill>
              </a:rPr>
              <a:t>: Reweights each model based on how well it predicts the new measurement.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 b="1">
                <a:solidFill>
                  <a:schemeClr val="dk1"/>
                </a:solidFill>
              </a:rPr>
              <a:t>Combination:</a:t>
            </a:r>
            <a:r>
              <a:rPr lang="en-GB" sz="1100">
                <a:solidFill>
                  <a:schemeClr val="dk1"/>
                </a:solidFill>
              </a:rPr>
              <a:t> Final estimate is the weighted average of both filters estimates.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Outcome:</a:t>
            </a:r>
            <a:r>
              <a:rPr lang="en-GB" sz="1100">
                <a:solidFill>
                  <a:schemeClr val="dk1"/>
                </a:solidFill>
              </a:rPr>
              <a:t> Enables "soft-switching" between maneuvers (e.g., straight &gt; turn) without the lag of a single filter.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1448100" y="0"/>
            <a:ext cx="6095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Interacting Multiple Model (IMM)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/>
        </p:nvSpPr>
        <p:spPr>
          <a:xfrm>
            <a:off x="2066623" y="0"/>
            <a:ext cx="4834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Mamba Model: Why SSM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828" y="2933100"/>
            <a:ext cx="6664871" cy="2210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" name="Google Shape;140;p24"/>
          <p:cNvGraphicFramePr/>
          <p:nvPr/>
        </p:nvGraphicFramePr>
        <p:xfrm>
          <a:off x="98282" y="934904"/>
          <a:ext cx="8909800" cy="1983075"/>
        </p:xfrm>
        <a:graphic>
          <a:graphicData uri="http://schemas.openxmlformats.org/drawingml/2006/table">
            <a:tbl>
              <a:tblPr>
                <a:noFill/>
                <a:tableStyleId>{3F3A7831-F2F2-40AE-8E4F-73F77F25F450}</a:tableStyleId>
              </a:tblPr>
              <a:tblGrid>
                <a:gridCol w="26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Aspect</a:t>
                      </a:r>
                      <a:endParaRPr sz="1100" b="1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RNN / LSTM</a:t>
                      </a:r>
                      <a:endParaRPr sz="1100" b="1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Transformers</a:t>
                      </a:r>
                      <a:endParaRPr sz="1100" b="1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Mamba (SSM)</a:t>
                      </a:r>
                      <a:endParaRPr sz="1100" b="1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Temporal Processing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Sequential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Parallel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Parallel scan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Memory Mechanism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Implicit hidden state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Full pairwise attention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Explicit state space memory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Long Range Memory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Vanishes over time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Preserved via attention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Stable state memory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Complexity vs Sequence Length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O(T·H)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O(T²)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O(T·H)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Memory Usage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O(H)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O(T²)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O(H)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Behavior on Long Trajectories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Degrades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Accurate but heavy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Accurate and efficient</a:t>
                      </a:r>
                      <a:endParaRPr sz="1100"/>
                    </a:p>
                  </a:txBody>
                  <a:tcPr marL="108000" marR="0" marT="36000" marB="0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/>
        </p:nvSpPr>
        <p:spPr>
          <a:xfrm>
            <a:off x="1792300" y="37500"/>
            <a:ext cx="5320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Mamba Model: How it works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74" y="1900812"/>
            <a:ext cx="4389701" cy="143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299" y="1652715"/>
            <a:ext cx="1775225" cy="23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74" y="3421614"/>
            <a:ext cx="1775270" cy="23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310" y="3684842"/>
            <a:ext cx="4389699" cy="142768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0" y="1269501"/>
            <a:ext cx="4436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 b="1"/>
              <a:t>SSM models treat sequences as a dynamical system:</a:t>
            </a:r>
            <a:endParaRPr sz="1300" b="1"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54325" y="1638800"/>
            <a:ext cx="4389699" cy="84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54325" y="2892100"/>
            <a:ext cx="4160375" cy="8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/>
          <p:nvPr/>
        </p:nvSpPr>
        <p:spPr>
          <a:xfrm>
            <a:off x="4717150" y="1298725"/>
            <a:ext cx="3272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</a:rPr>
              <a:t>Mamba Implementation Mechanisms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/>
        </p:nvSpPr>
        <p:spPr>
          <a:xfrm>
            <a:off x="1244650" y="0"/>
            <a:ext cx="6478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Mamba Model: Training Procedure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59" name="Google Shape;159;p26" title="mamaba tr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2614"/>
            <a:ext cx="8839204" cy="123006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/>
        </p:nvSpPr>
        <p:spPr>
          <a:xfrm>
            <a:off x="5342252" y="2380686"/>
            <a:ext cx="4089000" cy="27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1"/>
                </a:solidFill>
              </a:rPr>
              <a:t>Training Configuration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</a:rPr>
              <a:t>Input / Window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Sequence length: 48 time steps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Horizon: 1 step ahead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Feature vector per step: [x, y, z, dx, dy, dz, dt]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~1K trajectories per scenario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</a:rPr>
              <a:t>Training Setup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Optimizer: AdamW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Learning rate: 1e-5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Batch size: 128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Epochs: up to 15–20 (early stopping active)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161" name="Google Shape;161;p26"/>
          <p:cNvGraphicFramePr/>
          <p:nvPr/>
        </p:nvGraphicFramePr>
        <p:xfrm>
          <a:off x="76823" y="2767350"/>
          <a:ext cx="5068900" cy="2078684"/>
        </p:xfrm>
        <a:graphic>
          <a:graphicData uri="http://schemas.openxmlformats.org/drawingml/2006/table">
            <a:tbl>
              <a:tblPr>
                <a:noFill/>
                <a:tableStyleId>{3F3A7831-F2F2-40AE-8E4F-73F77F25F450}</a:tableStyleId>
              </a:tblPr>
              <a:tblGrid>
                <a:gridCol w="139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Component</a:t>
                      </a:r>
                      <a:endParaRPr sz="1100" b="1"/>
                    </a:p>
                  </a:txBody>
                  <a:tcPr marL="91425" marR="91425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/>
                        <a:t>Purpose</a:t>
                      </a:r>
                      <a:endParaRPr sz="1100" b="1"/>
                    </a:p>
                  </a:txBody>
                  <a:tcPr marL="91425" marR="91425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Robust scaling </a:t>
                      </a:r>
                      <a:r>
                        <a:rPr lang="en-GB" sz="900">
                          <a:solidFill>
                            <a:schemeClr val="dk1"/>
                          </a:solidFill>
                        </a:rPr>
                        <a:t>(median + IQR)</a:t>
                      </a:r>
                      <a:endParaRPr sz="900"/>
                    </a:p>
                  </a:txBody>
                  <a:tcPr marL="91425" marR="91425" marT="91425" marB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Reduce sensitivity to extreme values</a:t>
                      </a:r>
                      <a:endParaRPr sz="1200"/>
                    </a:p>
                  </a:txBody>
                  <a:tcPr marL="91425" marR="91425" marT="91425" marB="914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XYZ + Deltas</a:t>
                      </a:r>
                      <a:endParaRPr sz="1200"/>
                    </a:p>
                  </a:txBody>
                  <a:tcPr marL="91425" marR="18000" marT="0" marB="36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Provide motion information, not only location</a:t>
                      </a:r>
                      <a:endParaRPr sz="1200"/>
                    </a:p>
                  </a:txBody>
                  <a:tcPr marL="91425" marR="18000" marT="0" marB="36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Huber Loss</a:t>
                      </a:r>
                      <a:endParaRPr sz="1200"/>
                    </a:p>
                  </a:txBody>
                  <a:tcPr marL="91425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It behaves like MSE for small errors and like L1 for large errors, and is calculated on delta prediction.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Delta prediction</a:t>
                      </a:r>
                      <a:endParaRPr sz="1200"/>
                    </a:p>
                  </a:txBody>
                  <a:tcPr marL="91425" marR="0" marT="0" marB="1800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Learn motion rather than absolute coordinates</a:t>
                      </a:r>
                      <a:endParaRPr sz="1200"/>
                    </a:p>
                  </a:txBody>
                  <a:tcPr marL="91425" marR="0" marT="0" marB="18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2" name="Google Shape;162;p26"/>
          <p:cNvSpPr txBox="1"/>
          <p:nvPr/>
        </p:nvSpPr>
        <p:spPr>
          <a:xfrm>
            <a:off x="23899" y="2337101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 b="1">
                <a:solidFill>
                  <a:schemeClr val="dk1"/>
                </a:solidFill>
              </a:rPr>
              <a:t>Unique Training Techniques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/>
        </p:nvSpPr>
        <p:spPr>
          <a:xfrm>
            <a:off x="1228100" y="873750"/>
            <a:ext cx="6029400" cy="26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Task:</a:t>
            </a:r>
            <a:r>
              <a:rPr lang="en-GB" sz="1100">
                <a:solidFill>
                  <a:schemeClr val="dk1"/>
                </a:solidFill>
              </a:rPr>
              <a:t> One-step-ahead prediction (t+1) based on historical window (t-N to t).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Metrics: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Normalized MSE:</a:t>
            </a:r>
            <a:r>
              <a:rPr lang="en-GB" sz="1100">
                <a:solidFill>
                  <a:schemeClr val="dk1"/>
                </a:solidFill>
              </a:rPr>
              <a:t> Relative performance vs. a naive benchmark.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</a:rPr>
              <a:t>Naive Benchmark: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 b="1">
                <a:solidFill>
                  <a:schemeClr val="dk1"/>
                </a:solidFill>
              </a:rPr>
              <a:t>Logic:</a:t>
            </a:r>
            <a:r>
              <a:rPr lang="en-GB" sz="1100">
                <a:solidFill>
                  <a:schemeClr val="dk1"/>
                </a:solidFill>
              </a:rPr>
              <a:t> The simplest prediction is to assume the object remains stationary at the current location.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Prediction Equation:</a:t>
            </a:r>
            <a:br>
              <a:rPr lang="en-GB" sz="1100">
                <a:solidFill>
                  <a:schemeClr val="dk1"/>
                </a:solidFill>
              </a:rPr>
            </a:b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Calculating the MSE of this benchmark yields the variance of these single-step increments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2355550" y="48825"/>
            <a:ext cx="4236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Evaluation Framework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/>
          </a:blip>
          <a:srcRect l="26356" t="39066" r="47381" b="13632"/>
          <a:stretch/>
        </p:blipFill>
        <p:spPr>
          <a:xfrm>
            <a:off x="3239489" y="2540827"/>
            <a:ext cx="959325" cy="4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500" y="3275302"/>
            <a:ext cx="3304200" cy="5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Contributions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9" descr="create a slide that explains each of the flight modes . and also the 7 scenarios we used (apart from 'gz_combined' which is just a combination of the other 7 scenarios)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/>
        </p:nvSpPr>
        <p:spPr>
          <a:xfrm>
            <a:off x="1094750" y="977050"/>
            <a:ext cx="64770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Mamba outperforms KF in all 8 scenarios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Largest gains in “Fixed-Wing” mode (‘gz_advanced_plane’: ~58%, ‘gz_rc_cessna’: ~49%)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Consistent 25-30% improvement in “Multicopter”, “VTOL” and “Combined” scenarios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617975" y="0"/>
            <a:ext cx="8219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 b="1">
                <a:solidFill>
                  <a:schemeClr val="dk1"/>
                </a:solidFill>
              </a:rPr>
              <a:t>Mamba vs KF: Universal Improvement</a:t>
            </a:r>
            <a:endParaRPr sz="1700" b="1">
              <a:solidFill>
                <a:schemeClr val="dk1"/>
              </a:solidFill>
            </a:endParaRPr>
          </a:p>
        </p:txBody>
      </p:sp>
      <p:pic>
        <p:nvPicPr>
          <p:cNvPr id="187" name="Google Shape;187;p30" descr="the values in 'Scenario' column are taken from PX4 simulations. I need to add a column (2nd from left, right after 'Scenario' column) that classify each scenario value to a flight mode (&quot;Fixed-Wing&quot;, &quot;Multicopter&quot; etc)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375" y="2279610"/>
            <a:ext cx="6124769" cy="24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/>
        </p:nvSpPr>
        <p:spPr>
          <a:xfrm>
            <a:off x="1313825" y="0"/>
            <a:ext cx="6400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200">
                <a:solidFill>
                  <a:schemeClr val="dk1"/>
                </a:solidFill>
              </a:rPr>
              <a:t>Models Prediction Plots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525" y="559000"/>
            <a:ext cx="5880475" cy="21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7144" y="2698850"/>
            <a:ext cx="5880480" cy="24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77" y="855452"/>
            <a:ext cx="3566300" cy="40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 and Future Work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3" descr="Slide 1: Conclusions — Dynamics-Based Detection Capabilities&#10;Headline: Learned sequence models outperform physics-based filters in online trajectory prediction.&#10;• Superior Detection Accuracy: The Mamba model consistently outperformed the Interacting Multiple Model (IMM) filter across all 8 tested scenarios.&#10;    ◦ Fixed-Wing Dominance: Achieved a ~58.5% reduction in error (e.g., gz_advanced_plane) by implicitly learning aerodynamic constraints (lift/drag) that linear filters cannot model.&#10;    ◦ Agile Resilience: Maintained a ~28–30% lead in agile multicopter scenarios, reacting faster to &quot;jerk&quot; (sudden acceleration changes) than the adaptive physics models.&#10;• Methodological Rigor: The &quot;Fair Fight&quot; framework (48-step sliding window) proved that these accuracy gains are derived from superior dynamics modeling rather than an unfair advantage in historical context.&#10;• Engineering Optimization: Achieved a ~20x evaluation speedup by replacing SciPy with raw NumPy math in the IMM, enabling large-scale sensitivity testing previously impossible on CPU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4"/>
          <p:cNvPicPr preferRelativeResize="0"/>
          <p:nvPr/>
        </p:nvPicPr>
        <p:blipFill rotWithShape="1">
          <a:blip r:embed="rId3">
            <a:alphaModFix/>
          </a:blip>
          <a:srcRect l="29" r="19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13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 All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Microsoft Office PowerPoint</Application>
  <PresentationFormat>On-screen Show (16:9)</PresentationFormat>
  <Paragraphs>145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Courier New</vt:lpstr>
      <vt:lpstr>Simple Light</vt:lpstr>
      <vt:lpstr>UAV Detection</vt:lpstr>
      <vt:lpstr>Background &amp; Motivation</vt:lpstr>
      <vt:lpstr>PowerPoint Presentation</vt:lpstr>
      <vt:lpstr>PowerPoint Presentation</vt:lpstr>
      <vt:lpstr>Methodology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Contributions</vt:lpstr>
      <vt:lpstr>PowerPoint Presentation</vt:lpstr>
      <vt:lpstr>PowerPoint Presentation</vt:lpstr>
      <vt:lpstr>PowerPoint Presentation</vt:lpstr>
      <vt:lpstr>Conclusions and Future Work</vt:lpstr>
      <vt:lpstr>PowerPoint Presentation</vt:lpstr>
      <vt:lpstr>PowerPoint Presentation</vt:lpstr>
      <vt:lpstr>Thanks All 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Uri Yallow</cp:lastModifiedBy>
  <cp:revision>1</cp:revision>
  <dcterms:modified xsi:type="dcterms:W3CDTF">2026-01-18T21:54:06Z</dcterms:modified>
</cp:coreProperties>
</file>